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74" r:id="rId5"/>
    <p:sldId id="268" r:id="rId6"/>
    <p:sldId id="270" r:id="rId7"/>
    <p:sldId id="272" r:id="rId8"/>
    <p:sldId id="275" r:id="rId9"/>
    <p:sldId id="276" r:id="rId10"/>
    <p:sldId id="273" r:id="rId11"/>
    <p:sldId id="271" r:id="rId12"/>
    <p:sldId id="278" r:id="rId13"/>
    <p:sldId id="277" r:id="rId14"/>
    <p:sldId id="267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0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1ECB0-097C-48DD-BE97-9B770163D4E8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C76B3-B1D7-48F6-AB92-7ACD19D04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93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76B3-B1D7-48F6-AB92-7ACD19D04BE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79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76B3-B1D7-48F6-AB92-7ACD19D04BE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55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3174" y="6283803"/>
            <a:ext cx="2949299" cy="4465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762500"/>
            <a:ext cx="12191999" cy="20954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575"/>
            <a:ext cx="9299328" cy="2809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3175" y="6283803"/>
            <a:ext cx="2949299" cy="4465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8844" y="1269682"/>
            <a:ext cx="6951980" cy="155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mshikandela/Vamshikandela" TargetMode="External"/><Relationship Id="rId2" Type="http://schemas.openxmlformats.org/officeDocument/2006/relationships/hyperlink" Target="http://www.linkedin.com/in/kandela-vamshi-2b445725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200" y="3048000"/>
            <a:ext cx="7543800" cy="13450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62965">
              <a:lnSpc>
                <a:spcPct val="124600"/>
              </a:lnSpc>
              <a:spcBef>
                <a:spcPts val="95"/>
              </a:spcBef>
            </a:pP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lang="en-IN" sz="3600" spc="-25" dirty="0">
                <a:solidFill>
                  <a:srgbClr val="FF0000"/>
                </a:solidFill>
                <a:latin typeface="Times New Roman"/>
                <a:cs typeface="Times New Roman"/>
              </a:rPr>
              <a:t>PROJECT PRENSENTATION</a:t>
            </a:r>
          </a:p>
          <a:p>
            <a:pPr marL="12700" marR="5080" indent="862965">
              <a:lnSpc>
                <a:spcPct val="124600"/>
              </a:lnSpc>
              <a:spcBef>
                <a:spcPts val="95"/>
              </a:spcBef>
            </a:pPr>
            <a:r>
              <a:rPr lang="en-IN" sz="3600" dirty="0">
                <a:latin typeface="Times New Roman"/>
                <a:cs typeface="Times New Roman"/>
              </a:rPr>
              <a:t>MOVIE SALES DASHBOARD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1809" y="5457507"/>
            <a:ext cx="24885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By: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Vamshi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Batch</a:t>
            </a:r>
            <a:r>
              <a:rPr sz="1800" b="1" spc="-10" dirty="0">
                <a:latin typeface="Times New Roman"/>
                <a:cs typeface="Times New Roman"/>
              </a:rPr>
              <a:t> No:436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699" y="1122044"/>
            <a:ext cx="10711815" cy="369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7185" indent="-324485">
              <a:lnSpc>
                <a:spcPts val="2870"/>
              </a:lnSpc>
              <a:spcBef>
                <a:spcPts val="105"/>
              </a:spcBef>
              <a:buFont typeface="Arial MT"/>
              <a:buChar char="•"/>
              <a:tabLst>
                <a:tab pos="337185" algn="l"/>
              </a:tabLst>
            </a:pPr>
            <a:r>
              <a:rPr sz="2400" b="1" dirty="0">
                <a:latin typeface="Times New Roman"/>
                <a:cs typeface="Times New Roman"/>
              </a:rPr>
              <a:t>Name: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Kandela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Vamshi</a:t>
            </a:r>
            <a:endParaRPr sz="2400" dirty="0">
              <a:latin typeface="Times New Roman"/>
              <a:cs typeface="Times New Roman"/>
            </a:endParaRPr>
          </a:p>
          <a:p>
            <a:pPr marL="337185" indent="-324485">
              <a:lnSpc>
                <a:spcPts val="2870"/>
              </a:lnSpc>
              <a:buFont typeface="Arial MT"/>
              <a:buChar char="•"/>
              <a:tabLst>
                <a:tab pos="337185" algn="l"/>
              </a:tabLst>
            </a:pPr>
            <a:r>
              <a:rPr sz="2400" b="1" dirty="0">
                <a:latin typeface="Times New Roman"/>
                <a:cs typeface="Times New Roman"/>
              </a:rPr>
              <a:t>Qualification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337185" indent="-324485">
              <a:lnSpc>
                <a:spcPts val="2865"/>
              </a:lnSpc>
              <a:spcBef>
                <a:spcPts val="45"/>
              </a:spcBef>
              <a:buFont typeface="Arial MT"/>
              <a:buChar char="•"/>
              <a:tabLst>
                <a:tab pos="337185" algn="l"/>
              </a:tabLst>
            </a:pPr>
            <a:r>
              <a:rPr sz="2400" dirty="0">
                <a:latin typeface="Times New Roman"/>
                <a:cs typeface="Times New Roman"/>
              </a:rPr>
              <a:t>Bachelors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(2025)-(7.7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CGPA)</a:t>
            </a:r>
            <a:endParaRPr sz="2400" dirty="0">
              <a:latin typeface="Times New Roman"/>
              <a:cs typeface="Times New Roman"/>
            </a:endParaRPr>
          </a:p>
          <a:p>
            <a:pPr marL="299085" marR="5080" indent="-286385">
              <a:lnSpc>
                <a:spcPts val="2930"/>
              </a:lnSpc>
              <a:spcBef>
                <a:spcPts val="45"/>
              </a:spcBef>
              <a:buChar char="•"/>
              <a:tabLst>
                <a:tab pos="299085" algn="l"/>
                <a:tab pos="337185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Strongly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Believe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Teaching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Quantity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Innomatics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strength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13384" indent="-400685">
              <a:lnSpc>
                <a:spcPts val="2735"/>
              </a:lnSpc>
              <a:buFont typeface="Arial MT"/>
              <a:buChar char="•"/>
              <a:tabLst>
                <a:tab pos="413384" algn="l"/>
              </a:tabLst>
            </a:pP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Passionate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Meaningful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insight”</a:t>
            </a:r>
            <a:endParaRPr sz="2400" dirty="0">
              <a:latin typeface="Times New Roman"/>
              <a:cs typeface="Times New Roman"/>
            </a:endParaRPr>
          </a:p>
          <a:p>
            <a:pPr marL="337185" indent="-324485">
              <a:lnSpc>
                <a:spcPts val="2865"/>
              </a:lnSpc>
              <a:buFont typeface="Arial MT"/>
              <a:buChar char="•"/>
              <a:tabLst>
                <a:tab pos="337185" algn="l"/>
              </a:tabLst>
            </a:pPr>
            <a:r>
              <a:rPr sz="2400" b="1" dirty="0">
                <a:latin typeface="Times New Roman"/>
                <a:cs typeface="Times New Roman"/>
              </a:rPr>
              <a:t>LinkedIn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  <a:spcBef>
                <a:spcPts val="45"/>
              </a:spcBef>
            </a:pP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www.linkedin.com/in/kandela-vamshi-2b4457258</a:t>
            </a:r>
            <a:endParaRPr sz="2400" dirty="0">
              <a:latin typeface="Times New Roman"/>
              <a:cs typeface="Times New Roman"/>
            </a:endParaRPr>
          </a:p>
          <a:p>
            <a:pPr marL="413384" indent="-400685">
              <a:lnSpc>
                <a:spcPts val="2870"/>
              </a:lnSpc>
              <a:buFont typeface="Calibri"/>
              <a:buChar char="•"/>
              <a:tabLst>
                <a:tab pos="413384" algn="l"/>
              </a:tabLst>
            </a:pPr>
            <a:r>
              <a:rPr sz="2400" b="1" dirty="0">
                <a:latin typeface="Times New Roman"/>
                <a:cs typeface="Times New Roman"/>
              </a:rPr>
              <a:t>GitHub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241935" algn="l"/>
              </a:tabLst>
            </a:pPr>
            <a:r>
              <a:rPr lang="en-IN" sz="24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en-IN"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https://github.com/Vamshikandela/Vamshikandela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730" y="335661"/>
            <a:ext cx="18275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40" dirty="0">
                <a:solidFill>
                  <a:srgbClr val="FF0000"/>
                </a:solidFill>
                <a:latin typeface="Tahoma"/>
                <a:cs typeface="Tahoma"/>
              </a:rPr>
              <a:t>About</a:t>
            </a:r>
            <a:r>
              <a:rPr sz="3200" spc="-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spc="-295" dirty="0">
                <a:solidFill>
                  <a:srgbClr val="FF0000"/>
                </a:solidFill>
                <a:latin typeface="Tahoma"/>
                <a:cs typeface="Tahoma"/>
              </a:rPr>
              <a:t>me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4115-FB73-ABFF-B88E-BE0AD370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6"/>
            <a:ext cx="9979025" cy="738664"/>
          </a:xfrm>
        </p:spPr>
        <p:txBody>
          <a:bodyPr/>
          <a:lstStyle/>
          <a:p>
            <a:r>
              <a:rPr lang="en-IN" dirty="0"/>
              <a:t>AGENDA</a:t>
            </a:r>
            <a:br>
              <a:rPr lang="en-IN" dirty="0"/>
            </a:br>
            <a:r>
              <a:rPr lang="en-IN" dirty="0"/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78A42-95C3-A529-2329-95E4DEE4840A}"/>
              </a:ext>
            </a:extLst>
          </p:cNvPr>
          <p:cNvSpPr txBox="1"/>
          <p:nvPr/>
        </p:nvSpPr>
        <p:spPr>
          <a:xfrm>
            <a:off x="737557" y="589471"/>
            <a:ext cx="97291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 BUSINESS PROBLEM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 BUSINESS OBJECTIVE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DATASET OVERVIEW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CLEANING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DAX MEASURES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CHALLENGES FACED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DASH BOARD HIGHLIGHTS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KEYS &amp; INSIGHTS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88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833E-B860-954B-9E07-CE2297F2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738664"/>
          </a:xfrm>
        </p:spPr>
        <p:txBody>
          <a:bodyPr/>
          <a:lstStyle/>
          <a:p>
            <a:r>
              <a:rPr lang="en-IN" dirty="0"/>
              <a:t> BUSINESS PROBLEM</a:t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776E214-8E53-C37B-8BBD-6B8EBE3E7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-172996"/>
            <a:ext cx="117348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/>
              <a:t>The production company is facing recurring financial losses due to poor budgeting decisions, inaccurate prediction of movie performance, incorrect genre prioritization, and lack of data-driven planning.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movie dataset to understand why the producer is facing financial losses across multiple film projects.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examine key factors such as production budget, revenue, ratings, votes, runtime, genres, and release year to identify performance gaps.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investment vs. return trends and detect patterns causing underperforming movies.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clean, structured data suitable for Power BI dashboards that highlight risk areas and financial leak points.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derive insights that explain what drives a movie’s success or failure, helping the producer make data-driven investment decisions.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present findings in a clear, visually actionable format that supports strategic planning for future movie productions.</a:t>
            </a:r>
          </a:p>
        </p:txBody>
      </p:sp>
    </p:spTree>
    <p:extLst>
      <p:ext uri="{BB962C8B-B14F-4D97-AF65-F5344CB8AC3E}">
        <p14:creationId xmlns:p14="http://schemas.microsoft.com/office/powerpoint/2010/main" val="198031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9945-E9EE-A08D-3DDE-372E6F5F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5022"/>
            <a:ext cx="10158730" cy="369332"/>
          </a:xfrm>
        </p:spPr>
        <p:txBody>
          <a:bodyPr/>
          <a:lstStyle/>
          <a:p>
            <a:r>
              <a:rPr lang="en-IN" dirty="0"/>
              <a:t> BUSINESS OBJECTIVE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F8B6B-F7BC-9890-BF90-FC8281C3B7FD}"/>
              </a:ext>
            </a:extLst>
          </p:cNvPr>
          <p:cNvSpPr txBox="1"/>
          <p:nvPr/>
        </p:nvSpPr>
        <p:spPr>
          <a:xfrm>
            <a:off x="457200" y="773668"/>
            <a:ext cx="107442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Analyse the IMDB movie dataset consisting of 1,000 movies across 12 key attributes.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Prepare clean, structured data suitable for </a:t>
            </a:r>
            <a:r>
              <a:rPr lang="en-IN" sz="2000" b="1" dirty="0"/>
              <a:t>Power BI dashboard creation</a:t>
            </a:r>
            <a:r>
              <a:rPr lang="en-IN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Understand patterns in movie performance based on </a:t>
            </a:r>
            <a:r>
              <a:rPr lang="en-IN" sz="2000" b="1" dirty="0"/>
              <a:t>ratings, revenue, votes, runtime, genres, and release year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Identify meaningful trends and insights that help explain </a:t>
            </a:r>
            <a:r>
              <a:rPr lang="en-IN" sz="2000" b="1" dirty="0"/>
              <a:t>what drives a movie’s popularity and financial success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Present findings in a clear, visually appealing, and actionable format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23164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DB23-8BCF-0691-7FA1-4073B96D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1477328"/>
          </a:xfrm>
        </p:spPr>
        <p:txBody>
          <a:bodyPr/>
          <a:lstStyle/>
          <a:p>
            <a:r>
              <a:rPr lang="en-IN" dirty="0"/>
              <a:t>DATASET OVERVIEW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0E7EE-3ECD-01A4-0159-5CC7CAA40850}"/>
              </a:ext>
            </a:extLst>
          </p:cNvPr>
          <p:cNvSpPr txBox="1"/>
          <p:nvPr/>
        </p:nvSpPr>
        <p:spPr>
          <a:xfrm>
            <a:off x="304800" y="13716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BB822-D17C-C3DF-A332-2D82836F9465}"/>
              </a:ext>
            </a:extLst>
          </p:cNvPr>
          <p:cNvSpPr txBox="1"/>
          <p:nvPr/>
        </p:nvSpPr>
        <p:spPr>
          <a:xfrm>
            <a:off x="744747" y="1016661"/>
            <a:ext cx="11125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r>
              <a:rPr lang="en-IN" b="1" dirty="0"/>
              <a:t>Data Description :</a:t>
            </a:r>
          </a:p>
          <a:p>
            <a:pPr lvl="4"/>
            <a:endParaRPr lang="en-IN" b="1" dirty="0"/>
          </a:p>
          <a:p>
            <a:pPr lvl="5" algn="just"/>
            <a:r>
              <a:rPr lang="en-IN" b="1" dirty="0"/>
              <a:t>Rank</a:t>
            </a:r>
            <a:r>
              <a:rPr lang="en-IN" dirty="0"/>
              <a:t> 		              </a:t>
            </a:r>
            <a:r>
              <a:rPr lang="en-IN" b="1" dirty="0"/>
              <a:t>:</a:t>
            </a:r>
            <a:r>
              <a:rPr lang="en-IN" dirty="0"/>
              <a:t> The position of the movie in the ranking list. </a:t>
            </a:r>
          </a:p>
          <a:p>
            <a:pPr lvl="5" algn="just"/>
            <a:r>
              <a:rPr lang="en-IN" b="1" dirty="0"/>
              <a:t>Title</a:t>
            </a:r>
            <a:r>
              <a:rPr lang="en-IN" dirty="0"/>
              <a:t>		              </a:t>
            </a:r>
            <a:r>
              <a:rPr lang="en-IN" b="1" dirty="0"/>
              <a:t>:</a:t>
            </a:r>
            <a:r>
              <a:rPr lang="en-IN" dirty="0"/>
              <a:t> The name of the movie. </a:t>
            </a:r>
          </a:p>
          <a:p>
            <a:pPr lvl="5" algn="just"/>
            <a:r>
              <a:rPr lang="en-IN" b="1" dirty="0"/>
              <a:t>Genre</a:t>
            </a:r>
            <a:r>
              <a:rPr lang="en-IN" dirty="0"/>
              <a:t> 		              </a:t>
            </a:r>
            <a:r>
              <a:rPr lang="en-IN" b="1" dirty="0"/>
              <a:t>:</a:t>
            </a:r>
            <a:r>
              <a:rPr lang="en-IN" dirty="0"/>
              <a:t> The primary genre(s) of the movie (e.g., Action, Drama). </a:t>
            </a:r>
          </a:p>
          <a:p>
            <a:pPr lvl="5" algn="just"/>
            <a:r>
              <a:rPr lang="en-IN" b="1" dirty="0"/>
              <a:t>Description</a:t>
            </a:r>
            <a:r>
              <a:rPr lang="en-IN" dirty="0"/>
              <a:t>                       </a:t>
            </a:r>
            <a:r>
              <a:rPr lang="en-IN" b="1" dirty="0"/>
              <a:t>:</a:t>
            </a:r>
            <a:r>
              <a:rPr lang="en-IN" dirty="0"/>
              <a:t> Brief summary or synopsis of the movie plot. </a:t>
            </a:r>
          </a:p>
          <a:p>
            <a:pPr lvl="5" algn="just"/>
            <a:r>
              <a:rPr lang="en-IN" b="1" dirty="0"/>
              <a:t>Director</a:t>
            </a:r>
            <a:r>
              <a:rPr lang="en-IN" dirty="0"/>
              <a:t>		              </a:t>
            </a:r>
            <a:r>
              <a:rPr lang="en-IN" b="1" dirty="0"/>
              <a:t>:</a:t>
            </a:r>
            <a:r>
              <a:rPr lang="en-IN" dirty="0"/>
              <a:t> The name of the movie’s director. </a:t>
            </a:r>
          </a:p>
          <a:p>
            <a:pPr lvl="5" algn="just"/>
            <a:r>
              <a:rPr lang="en-IN" b="1" dirty="0"/>
              <a:t>Actors</a:t>
            </a:r>
            <a:r>
              <a:rPr lang="en-IN" dirty="0"/>
              <a:t>		              </a:t>
            </a:r>
            <a:r>
              <a:rPr lang="en-IN" b="1" dirty="0"/>
              <a:t>:</a:t>
            </a:r>
            <a:r>
              <a:rPr lang="en-IN" dirty="0"/>
              <a:t> Names of the main actors featured in the movie. </a:t>
            </a:r>
          </a:p>
          <a:p>
            <a:pPr lvl="5" algn="just"/>
            <a:r>
              <a:rPr lang="en-IN" b="1" dirty="0"/>
              <a:t>Year</a:t>
            </a:r>
            <a:r>
              <a:rPr lang="en-IN" dirty="0"/>
              <a:t>                                   </a:t>
            </a:r>
            <a:r>
              <a:rPr lang="en-IN" b="1" dirty="0"/>
              <a:t>:</a:t>
            </a:r>
            <a:r>
              <a:rPr lang="en-IN" dirty="0"/>
              <a:t> The year the movie was released. </a:t>
            </a:r>
          </a:p>
          <a:p>
            <a:pPr lvl="5" algn="just"/>
            <a:r>
              <a:rPr lang="en-IN" b="1" dirty="0"/>
              <a:t>Runtime</a:t>
            </a:r>
            <a:r>
              <a:rPr lang="en-IN" dirty="0"/>
              <a:t>                             </a:t>
            </a:r>
            <a:r>
              <a:rPr lang="en-IN" b="1" dirty="0"/>
              <a:t>:</a:t>
            </a:r>
            <a:r>
              <a:rPr lang="en-IN" dirty="0"/>
              <a:t> Duration of the movie in minutes. </a:t>
            </a:r>
          </a:p>
          <a:p>
            <a:pPr lvl="5" algn="just"/>
            <a:r>
              <a:rPr lang="en-IN" b="1" dirty="0"/>
              <a:t>Rating</a:t>
            </a:r>
            <a:r>
              <a:rPr lang="en-IN" dirty="0"/>
              <a:t>                                </a:t>
            </a:r>
            <a:r>
              <a:rPr lang="en-IN" b="1" dirty="0"/>
              <a:t>:</a:t>
            </a:r>
            <a:r>
              <a:rPr lang="en-IN" dirty="0"/>
              <a:t> The average viewer rating (e.g., IMDb rating). </a:t>
            </a:r>
          </a:p>
          <a:p>
            <a:pPr lvl="5" algn="just"/>
            <a:r>
              <a:rPr lang="en-IN" b="1" dirty="0"/>
              <a:t>Votes</a:t>
            </a:r>
            <a:r>
              <a:rPr lang="en-IN" dirty="0"/>
              <a:t>  		              </a:t>
            </a:r>
            <a:r>
              <a:rPr lang="en-IN" b="1" dirty="0"/>
              <a:t>:</a:t>
            </a:r>
            <a:r>
              <a:rPr lang="en-IN" dirty="0"/>
              <a:t> Total number of user votes received for the movie.</a:t>
            </a:r>
          </a:p>
          <a:p>
            <a:pPr lvl="5" algn="just"/>
            <a:r>
              <a:rPr lang="en-IN" b="1" dirty="0"/>
              <a:t>Revenue</a:t>
            </a:r>
            <a:r>
              <a:rPr lang="en-IN" dirty="0"/>
              <a:t> </a:t>
            </a:r>
            <a:r>
              <a:rPr lang="en-IN" b="1" dirty="0"/>
              <a:t>(Millions)</a:t>
            </a:r>
            <a:r>
              <a:rPr lang="en-IN" dirty="0"/>
              <a:t>	</a:t>
            </a:r>
            <a:r>
              <a:rPr lang="en-IN" b="1" dirty="0"/>
              <a:t>:</a:t>
            </a:r>
            <a:r>
              <a:rPr lang="en-IN" dirty="0"/>
              <a:t> Total revenue  generated by the movie in millions of USD.</a:t>
            </a:r>
          </a:p>
          <a:p>
            <a:pPr lvl="5" algn="just"/>
            <a:r>
              <a:rPr lang="en-IN" b="1" dirty="0"/>
              <a:t>Meta</a:t>
            </a:r>
            <a:r>
              <a:rPr lang="en-IN" dirty="0"/>
              <a:t> </a:t>
            </a:r>
            <a:r>
              <a:rPr lang="en-IN" b="1" dirty="0"/>
              <a:t>score</a:t>
            </a:r>
            <a:r>
              <a:rPr lang="en-IN" dirty="0"/>
              <a:t>  		</a:t>
            </a:r>
            <a:r>
              <a:rPr lang="en-IN" b="1" dirty="0"/>
              <a:t>:</a:t>
            </a:r>
            <a:r>
              <a:rPr lang="en-IN" dirty="0"/>
              <a:t> The Metacritic score representing critic reviews (0–100 scale).</a:t>
            </a:r>
          </a:p>
          <a:p>
            <a:pPr lvl="5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22E8B-D7E9-EB5D-EC11-A334098114DA}"/>
              </a:ext>
            </a:extLst>
          </p:cNvPr>
          <p:cNvSpPr txBox="1"/>
          <p:nvPr/>
        </p:nvSpPr>
        <p:spPr>
          <a:xfrm>
            <a:off x="762000" y="762000"/>
            <a:ext cx="1104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 Contain:</a:t>
            </a:r>
          </a:p>
          <a:p>
            <a:endParaRPr lang="en-IN" b="1" dirty="0"/>
          </a:p>
          <a:p>
            <a:r>
              <a:rPr lang="en-IN" b="1" dirty="0"/>
              <a:t>Total Rows                        :</a:t>
            </a:r>
            <a:r>
              <a:rPr lang="en-IN" dirty="0"/>
              <a:t>1000</a:t>
            </a:r>
          </a:p>
          <a:p>
            <a:r>
              <a:rPr lang="en-IN" b="1" dirty="0"/>
              <a:t>Total Columns    </a:t>
            </a:r>
            <a:r>
              <a:rPr lang="en-IN" dirty="0"/>
              <a:t>              </a:t>
            </a:r>
            <a:r>
              <a:rPr lang="en-IN" b="1" dirty="0"/>
              <a:t>:</a:t>
            </a:r>
            <a:r>
              <a:rPr lang="en-IN" dirty="0"/>
              <a:t>1</a:t>
            </a:r>
            <a:r>
              <a:rPr lang="en-IN" i="1" dirty="0"/>
              <a:t>2</a:t>
            </a:r>
            <a:endParaRPr lang="en-IN" dirty="0"/>
          </a:p>
          <a:p>
            <a:r>
              <a:rPr lang="en-IN" b="1" dirty="0"/>
              <a:t>Type of Data</a:t>
            </a:r>
            <a:r>
              <a:rPr lang="en-IN" dirty="0"/>
              <a:t>                     </a:t>
            </a:r>
            <a:r>
              <a:rPr lang="en-IN" b="1" dirty="0"/>
              <a:t>:</a:t>
            </a:r>
            <a:r>
              <a:rPr lang="en-IN" dirty="0"/>
              <a:t> Mixed (Numerical + Categorical + Date)</a:t>
            </a:r>
          </a:p>
        </p:txBody>
      </p:sp>
    </p:spTree>
    <p:extLst>
      <p:ext uri="{BB962C8B-B14F-4D97-AF65-F5344CB8AC3E}">
        <p14:creationId xmlns:p14="http://schemas.microsoft.com/office/powerpoint/2010/main" val="201591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9BD7-7351-8A70-FE74-B6136682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0158730" cy="701040"/>
          </a:xfrm>
        </p:spPr>
        <p:txBody>
          <a:bodyPr/>
          <a:lstStyle/>
          <a:p>
            <a:r>
              <a:rPr lang="en-IN" dirty="0"/>
              <a:t>DATA CLEANING &amp; TRANSFORMATION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6C069585-2C0E-2705-8FF0-DCDFD27D5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914400"/>
            <a:ext cx="11353800" cy="461664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Handled Missing Values: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Revenue and Meta score had missing entries; treated through imputation or removal depending on context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Standardized Data Types: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Converted numeric fields like Runtime, Revenue, Rating, and Votes to appropriate formats.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Processed Multi-Genre Column: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Split and normalized genres for accurate counting and visualization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Removed Duplicates: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Ensured dataset integrity and consistency.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Text Fields Cleaned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Trimmed spaces, corrected formats, and ensured uniformity in Director and Actor names.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57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E744-674B-D1AF-E430-FF44CAB9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369332"/>
          </a:xfrm>
        </p:spPr>
        <p:txBody>
          <a:bodyPr/>
          <a:lstStyle/>
          <a:p>
            <a:r>
              <a:rPr lang="en-IN" dirty="0"/>
              <a:t>DAX MEASURES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2B49864-EC74-AF54-B662-35A61EEC64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142643"/>
            <a:ext cx="3505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Rating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Metascore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Revenue (in millions)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Runtime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Votes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Office Collection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Genre Count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Movie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Max_Revenue by Genre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Movie_Genre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Count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Genre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Movies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(in millions)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Votes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Actors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Directors</a:t>
            </a:r>
          </a:p>
        </p:txBody>
      </p:sp>
    </p:spTree>
    <p:extLst>
      <p:ext uri="{BB962C8B-B14F-4D97-AF65-F5344CB8AC3E}">
        <p14:creationId xmlns:p14="http://schemas.microsoft.com/office/powerpoint/2010/main" val="164196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CD1C-1C8C-FC0F-1ED9-0349A6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369332"/>
          </a:xfrm>
        </p:spPr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903F6-7977-5AC3-6B03-8C7E24B14E89}"/>
              </a:ext>
            </a:extLst>
          </p:cNvPr>
          <p:cNvSpPr txBox="1"/>
          <p:nvPr/>
        </p:nvSpPr>
        <p:spPr>
          <a:xfrm>
            <a:off x="304800" y="2286000"/>
            <a:ext cx="5943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Mean Imputation</a:t>
            </a:r>
          </a:p>
          <a:p>
            <a:r>
              <a:rPr lang="en-IN" dirty="0"/>
              <a:t>Replaces missing values with the average</a:t>
            </a:r>
          </a:p>
          <a:p>
            <a:r>
              <a:rPr lang="en-IN" dirty="0"/>
              <a:t>Easy to apply</a:t>
            </a:r>
          </a:p>
          <a:p>
            <a:r>
              <a:rPr lang="en-IN" b="1" dirty="0"/>
              <a:t>Total Revenue</a:t>
            </a:r>
          </a:p>
          <a:p>
            <a:r>
              <a:rPr lang="en-IN" dirty="0"/>
              <a:t>Affected by outliers → result difference 134k(millions)</a:t>
            </a:r>
          </a:p>
          <a:p>
            <a:r>
              <a:rPr lang="en-IN" b="1" dirty="0"/>
              <a:t>Meta Score</a:t>
            </a:r>
          </a:p>
          <a:p>
            <a:r>
              <a:rPr lang="en-IN" dirty="0"/>
              <a:t>Affected by outliers → result difference (0.61)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Median Imputation</a:t>
            </a:r>
          </a:p>
          <a:p>
            <a:r>
              <a:rPr lang="en-IN" dirty="0"/>
              <a:t>Replaces missing values with middle value</a:t>
            </a:r>
          </a:p>
          <a:p>
            <a:r>
              <a:rPr lang="en-IN" dirty="0"/>
              <a:t>Robust to outliers</a:t>
            </a:r>
          </a:p>
          <a:p>
            <a:endParaRPr lang="en-IN" dirty="0"/>
          </a:p>
        </p:txBody>
      </p:sp>
      <p:pic>
        <p:nvPicPr>
          <p:cNvPr id="5" name="Picture 4" descr="A screenshot of a graph">
            <a:extLst>
              <a:ext uri="{FF2B5EF4-FFF2-40B4-BE49-F238E27FC236}">
                <a16:creationId xmlns:a16="http://schemas.microsoft.com/office/drawing/2014/main" id="{0192628F-F64F-FBAD-E388-C5EFAC58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81000"/>
            <a:ext cx="6245435" cy="4326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E9138-5109-19E7-CD3B-3452CED070EE}"/>
              </a:ext>
            </a:extLst>
          </p:cNvPr>
          <p:cNvSpPr txBox="1"/>
          <p:nvPr/>
        </p:nvSpPr>
        <p:spPr>
          <a:xfrm>
            <a:off x="457200" y="1066800"/>
            <a:ext cx="579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Handling Missing Values: Mean vs Median Imputation</a:t>
            </a:r>
          </a:p>
        </p:txBody>
      </p:sp>
    </p:spTree>
    <p:extLst>
      <p:ext uri="{BB962C8B-B14F-4D97-AF65-F5344CB8AC3E}">
        <p14:creationId xmlns:p14="http://schemas.microsoft.com/office/powerpoint/2010/main" val="281651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353847"/>
                  </p:ext>
                </p:extLst>
              </p:nvPr>
            </p:nvGraphicFramePr>
            <p:xfrm>
              <a:off x="228600" y="571499"/>
              <a:ext cx="11887199" cy="571500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600" y="571499"/>
                <a:ext cx="11887199" cy="571500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8B20B5B-AA0C-36EF-5224-BD0D19F0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9598025" cy="469583"/>
          </a:xfrm>
        </p:spPr>
        <p:txBody>
          <a:bodyPr/>
          <a:lstStyle/>
          <a:p>
            <a:r>
              <a:rPr lang="en-IN" dirty="0"/>
              <a:t>DASH BOARD HIGHLIGHTS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65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CD0A-6EE9-5240-8E9F-C6ACCE99E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1107996"/>
          </a:xfrm>
        </p:spPr>
        <p:txBody>
          <a:bodyPr/>
          <a:lstStyle/>
          <a:p>
            <a:r>
              <a:rPr lang="en-IN" dirty="0"/>
              <a:t>KEYS &amp; INSIGHTS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C25A3-CC30-D06C-4D4A-7DF6C61E3132}"/>
              </a:ext>
            </a:extLst>
          </p:cNvPr>
          <p:cNvSpPr txBox="1"/>
          <p:nvPr/>
        </p:nvSpPr>
        <p:spPr>
          <a:xfrm>
            <a:off x="3048000" y="31070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16FBF3-6703-8DBB-9411-DF983510B842}"/>
              </a:ext>
            </a:extLst>
          </p:cNvPr>
          <p:cNvSpPr txBox="1"/>
          <p:nvPr/>
        </p:nvSpPr>
        <p:spPr>
          <a:xfrm>
            <a:off x="533400" y="762000"/>
            <a:ext cx="10210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By Year: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number of movies releases and Total revenue generated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32.93k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millions 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revenue generated overall  from 2006 to 2016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78.48k millions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Votes by Genre 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Drama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genre received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total number of votes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it has the strongest audience engagement across all movie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Drama movies accumulated approximately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74.78 million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votes, making it the most interacted-with genre in the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by Genre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genre generated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total revenue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approximately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39.19K million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Audience Engagement &amp; Revenue Performance: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Franchise films like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Dark Knight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Avatar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Wars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 both the highest audience engagement and the strongest box-office performance.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big-budget, high-visibility movies deliver the best combination of popularity and financial return.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FD73E-EB05-7E0F-F8B4-B62E52D0B24A}"/>
              </a:ext>
            </a:extLst>
          </p:cNvPr>
          <p:cNvSpPr txBox="1"/>
          <p:nvPr/>
        </p:nvSpPr>
        <p:spPr>
          <a:xfrm>
            <a:off x="1115695" y="5855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4065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234B-59AA-1630-80F7-FD6054C9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369332"/>
          </a:xfrm>
        </p:spPr>
        <p:txBody>
          <a:bodyPr/>
          <a:lstStyle/>
          <a:p>
            <a:r>
              <a:rPr lang="en-IN" dirty="0"/>
              <a:t>Highest Revenue Directors &amp; 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42994-3A2C-200B-59B1-E81D4144E256}"/>
              </a:ext>
            </a:extLst>
          </p:cNvPr>
          <p:cNvSpPr txBox="1"/>
          <p:nvPr/>
        </p:nvSpPr>
        <p:spPr>
          <a:xfrm>
            <a:off x="685800" y="889844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Top-grossing directors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J.J. Abrams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 Yates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leading actors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Downey Jr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Jennifer Lawrence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drive the highest global revenues through major blockbuster franchises.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3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636F-2BF6-6CD5-EF46-BD296A70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216217"/>
            <a:ext cx="10158730" cy="7386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D78EE-12ED-4A46-639C-DB2DB875BA0F}"/>
              </a:ext>
            </a:extLst>
          </p:cNvPr>
          <p:cNvSpPr txBox="1"/>
          <p:nvPr/>
        </p:nvSpPr>
        <p:spPr>
          <a:xfrm>
            <a:off x="990600" y="1219200"/>
            <a:ext cx="9601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directors (e.g.,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J.J. Abrams(5,050 millions)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David Yates(4,891 millions 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leading actors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 Downey Jr.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(2,564millions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Jennifer Lawrence(1,655 millions)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drive the highest box-office returns.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gains the most audience engagement,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Adventure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delivers the strongest revenue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Blockbuster franchises consistently outperform, proving the value of investing in proven Ips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Focusing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bankable talent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genres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the most reliable path to profitability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53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4970" y="2770187"/>
            <a:ext cx="302895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dirty="0">
                <a:latin typeface="Times New Roman"/>
                <a:cs typeface="Times New Roman"/>
              </a:rPr>
              <a:t>THANK</a:t>
            </a:r>
            <a:r>
              <a:rPr sz="3950" b="0" spc="70" dirty="0">
                <a:latin typeface="Times New Roman"/>
                <a:cs typeface="Times New Roman"/>
              </a:rPr>
              <a:t> </a:t>
            </a:r>
            <a:r>
              <a:rPr sz="3950" b="0" spc="-25" dirty="0">
                <a:latin typeface="Times New Roman"/>
                <a:cs typeface="Times New Roman"/>
              </a:rPr>
              <a:t>YOU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aab060e-75b6-4c07-ad9a-d25483eecd4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1C233&quot;"/>
    <we:property name="bookmark" value="&quot;H4sIAAAAAAAAA+1abW/bNhD+K4a+tAXcgaLeyHxLnHYrsLRZk2UYhmAgxZPDVhY1vbjJAv/3kZSd2IlfEiex5a6AP1h8vXvu7rmjqGtHyDJP2dVHNgBnzzlQ6uuAFV872Ok6WdMWk4CGQcJi7mPmiYgj4elelVdSZaWzd+1UrOhDdSbLmqVmId3413nXYWl6zPrmKWFpCV0nh6JUGUvlv9AM1l1VUcOo68BlnqqCmSVPKlaBWXaoh+tnLYL7k9mRxZUcwgnEVdOKhRAR4cyNOCMIACGP6mFlM8BKNneIWdpu31NZxWSmtzFtcRQlAeEB94gLNEIUYW7aE5lW4yH86t1lXmjttM5XuQFnXwxZFoNwrAoFlI3E184RsLIurB7vZjpOVF3E8BkS25VVsrrS64yHl51TxlNwRhqS40JpwGzvL7J/AWXVOVJDCZ3PMISshtcy6xzJNDW6vrEzLtS3XgEaPeHsoVF3w0KeqoqlnTNVaYtvX5r9Yb/zWftT1m+BMD9DVkCnp+qsaoE0FprGh+ZIc65bSg1bOo7R23A5bYSMWSHGXZoF+BcdbiY49DRVCCgOrmx8HMpiEqi4e0fozceG1krPImHocwxeiLyAB2FEsIvMTkvVreCy4upyVlezWuIFxCU0IFggX3AcUj9qCV9YC2tnk4N5Ft4OMVj7tIEZfs/kPzV0GgdVRYtE2m+LPI3FpmNpXoLZNaaYjYqGEjhJcCJ0HMeRrm84oIiE6wfxfr9fQJ9V48dZkXsqrQdz2uer8uHo8OCtjZm3h6xi9ywkq7GC7+tsjF6wluM8q1h/AivW8ZRUV2G9C1ZU6zrK1pEfnU8KVD32y1QJ2tMg9FXRqPASYJ/bbORxpn9RgJGLXRZBzCO00pFPVf5RI96MMUPOJiW3Bvh9oQZ28PhsUNZck5RW5C72J5MO/f+3yZ9lK0mzxCIlu07jE8ggegKphvLh0DUPdov5ZutOZEgkpMIxe3zamIstlm5MtZ3XswX9rYehxsO0wZw9F1mLNzBhE+OPxvWPCzCsamHNhJzo9OGOBuUzIm/Ft7S8cOqNh41Glp9flKpu47iVlLn9lL/kaLk681uEdoTRHxp8G6b3m7ix0R4hN6IQMQ+FjIUCRQEjP/j9Fq1JOf99UHywUwx/i33bSH5KsjUItl0U1GoF5lXFeI3EkdRZBmsfF9tlsC3kjOlItBSCEn0SAMxdIFHIXOR7gv5IG3err11NGf7OpozJ2bVd6WIXa/FWpYF18tjKnPA1l99LQjBNVAgaJLHnU5f6KAw4RcLstBQDOWB9uH8HAS4BLFwEvohx4AlCGFtJ7+P0I2P7XvYFw8lee61zfCxTGevMM62uM4Cib+NLmJ2MOnmzk7lVMP1K2G6w2l47v0qNQLP2GUtrs+yrQz1DqG/ZqwmbjBZkaDvjEUT3WESa5JwkKPSoKzwqXEoI9oi3+p3dxqy3pHb+/xrwXoEFHg2ChPoYIR4yD9OAPuEWsBUv479b4828MEfESyLqhQJHBFEmAkbdlTRcXrB8Dg0HMaMijqkgnPrM94mL6cq1cs3oH9lQ6vSkijlrUhHFfsA1QRCESOQi5P+o3O9RaUtL9wXn4R2t1m/SVrvK9UX1xabrdSvh3/11q51cPu3u8wV12cIrjNkSKUo4TiLuE58EiLmYC+KtZFZm5Tyoq0rLcY9YPSFwwLlAbuBpdiVUYNFaYnWX8EHnNX4zxQm3JDKYnnTH3M/Exu69jyvG3648gY8f5sc3Mgwe9tXKA65NHwHyCxPvQli3Tb0WhkWybZt/n+tzpbQudXSD6D399nID+m2Am5da/dz62Wj+MUHVVZmzGI5ZBnOOC9oZWCZArDgy2O/Gb04Lo9F/bIVzva8uAAA=&quot;"/>
    <we:property name="creatorSessionId" value="&quot;d519278e-c8d0-4e4b-8fd3-b30c542c7ca6&quot;"/>
    <we:property name="creatorTenantId" value="&quot;5267cd8d-8ee3-462e-b203-7c084eaf1fa2&quot;"/>
    <we:property name="creatorUserId" value="&quot;1003200555E55715&quot;"/>
    <we:property name="datasetId" value="&quot;529aaf0c-0a25-4206-81c3-07446e916708&quot;"/>
    <we:property name="embedUrl" value="&quot;/reportEmbed?reportId=a8078662-cc5f-4587-93f2-c572cc7526ae&amp;config=eyJjbHVzdGVyVXJsIjoiaHR0cHM6Ly9XQUJJLVVTLUNFTlRSQUwtQS1QUklNQVJZLXJlZGlyZWN0LmFuYWx5c2lzLndpbmRvd3MubmV0IiwiZW1iZWRGZWF0dXJlcyI6eyJ1c2FnZU1ldHJpY3NWTmV4dCI6dHJ1ZX19&amp;disableSensitivityBanner=true&amp;storytellingChangeViewModeShortcutKeys=true&quot;"/>
    <we:property name="initialStateBookmark" value="&quot;H4sIAAAAAAAAA+1abVPjNhD+Kxl/uetMriO/SuJbeLn25hqgQOl0OsyNZK2DDsd2/ZKDMvnvlWQHCCTkCEfiUGbyIZZWq91Hu8+uX64tIYssZlf7bAjWlrWdphdDll90HKtrJc3YwcHnfu/o85f9Xn9PDadZKdOksLaurZLlAyhPZVGxWGtQg3+fdS0Wx4dsoK8iFhfQtTLIizRhsfwXamE1VeYVjLsWXGZxmjOt8rhkJWi1IyWurtXe9s+u2pGFpRzBMYRlPeoIITDhzMacEQSAkEuVWFELGMtmimjVZvudNCmZTNQ2eizEOPIJ97lLbKAYUeRwPR7JuGxE+NXeZZYr75TPV5lGpSdGLAlBWMaFHIra4murD6yocuPH3tTEcVrlIRxBZKaSUpZXSk8jXnROGI/BGitIDvNUAWZmf5WDcyjKTj8dSegcwQiSCt7LpNOXcax9/cmsOE+/7eSg0BPWFhp3V2xkbzRoq2knacnizmlaqmBcvzUGKBXqyWCGMWdqpFBTcZMit9F6UtsYslw0UyoJ+VcV7To21bI0F5BvX5nw3JX5JE+c7j2bVx+ayiu1igSBxx1wA+T63A8wcWykd3rU3RIuS55eTvuqtUWuT2xCfeII5AnuBNTDLUlXc8CVkh1CC8KtDn5zPm2I/tqclhLFH4n8p4JOnT1p3ga8GpN68+zZNMKYYr+aGDiJnEiobA5xyD0OCJNg+VTuDQY5DFjZXE5bvJPG1XDG+GxPPvV3tz+YzPmwy0r2IJRl2fj3sUoa8PylIuaHmvUXsHyZQIlVK7RzzvJy2ThZO/Ljs0mXqGS/3ukDdxQIgzSvXXgJsM9MTXI5Uz/sO8h2bIYh5BgtDOSTNNtXiNcyWuR00vcqgD/m6dAIN515UXHFBsqR+9gfTybU/98nfx7TJLWKeU52rTomkEb0GGIF5fdDV1+YLWYfW3diQyQhFpbe42BlITbfuqYmdd5PV6TbCEN1hKkDs7ZsZE68hsnROf5kXP88B02qBtZEyIlPn+55UPxA5I35hpXnLr2JsPHY8POLUtVtHreSMlvdGy0u/AahDWH0702+FdP7Td6YbMfIxhQwc1HAWCAQ9hl54/dbtCZ98+ugeH+jGP4W+7aR/B3LliDYdlFQqx2Y1RU7SxSOqEoSWPpusV0HtoaacTcTDYWgSN0JgMNtIDhgNvJcQd/Kxv3ua1NLhrexJWNy79qucrGJvXirysAydWxhTbjI5GspCHqICkH9KHQ9alMPBT6nSOidHsVADtkAHr6JAJuAI2wEnggd3xWEMLaQ3pvyI0PzWPYF0+kXSPJZt9gLT7yIZagqz113rSHkA5NfQu+k3cnqnfS7BT2fCjMNxttr6zepEKh1n7K40mrf7aoVIv2WvJuwyXhOhTYrnkB0T0WkLs5RhAKX2sKlwqaEOC5xFz+zW9npPdI7/38P8EGDBS71/Yh6DkI8YK5DffqMd4GteBj/ag9v6oE5Im6EqRsIBxNEmfAZtRfScHHOshk07IeMijCkgnDqMc8jtkMX6soUo++zkVTlKc1n6KQCh57PFUEQhAi2EfLeOvcHVNrS1n3O/fCGdus3Zatd7fq8/mLV/bqx8Mtg2W4nk8979/mCvqzhEcZ0i4Qj7kSYe8QjPmK2wwVxFzIrM3ZuV2Wp7HhArB7GNic2cQHb4NEA+RjaXbHX8ZXYaM4Xa8959bO+9+Pm4Ge1M2lVFhkL4ZAlMKOtUSCzRIBY0NqYj0wts4nCQjYM+cgC/enpTRc0Hv8How+/CQUrAAA=&quot;"/>
    <we:property name="isFiltersActionButtonVisible" value="true"/>
    <we:property name="isFooterCollapsed" value="false"/>
    <we:property name="isVisualContainerHeaderHidden" value="false"/>
    <we:property name="pageDisplayName" value="&quot;Movie Sales Dashboard&quot;"/>
    <we:property name="pageName" value="&quot;2ddd78ba17ba80ee0039&quot;"/>
    <we:property name="reportEmbeddedTime" value="&quot;2025-12-11T10:34:50.026Z&quot;"/>
    <we:property name="reportName" value="&quot;Movie IMDB DashBoard&quot;"/>
    <we:property name="reportState" value="&quot;CONNECTED&quot;"/>
    <we:property name="reportUrl" value="&quot;/groups/me/reports/a8078662-cc5f-4587-93f2-c572cc7526ae/2ddd78ba17ba80ee0039?bookmarkGuid=b43f7613-402c-483a-a9a5-6a027cae18b6&amp;bookmarkUsage=1&amp;ctid=5267cd8d-8ee3-462e-b203-7c084eaf1fa2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</TotalTime>
  <Words>1044</Words>
  <Application>Microsoft Office PowerPoint</Application>
  <PresentationFormat>Widescreen</PresentationFormat>
  <Paragraphs>167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Arial MT</vt:lpstr>
      <vt:lpstr>Calibri</vt:lpstr>
      <vt:lpstr>Tahoma</vt:lpstr>
      <vt:lpstr>Times New Roman</vt:lpstr>
      <vt:lpstr>Wingdings</vt:lpstr>
      <vt:lpstr>Office Theme</vt:lpstr>
      <vt:lpstr>PowerPoint Presentation</vt:lpstr>
      <vt:lpstr>About me</vt:lpstr>
      <vt:lpstr>AGENDA   </vt:lpstr>
      <vt:lpstr> BUSINESS PROBLEM </vt:lpstr>
      <vt:lpstr> BUSINESS OBJECTIVE </vt:lpstr>
      <vt:lpstr>DATASET OVERVIEW   </vt:lpstr>
      <vt:lpstr>DATA CLEANING &amp; TRANSFORMATION</vt:lpstr>
      <vt:lpstr>DAX MEASURES</vt:lpstr>
      <vt:lpstr>CHALLENGES FACED</vt:lpstr>
      <vt:lpstr>DASH BOARD HIGHLIGHTS </vt:lpstr>
      <vt:lpstr>KEYS &amp; INSIGHTS  </vt:lpstr>
      <vt:lpstr>Highest Revenue Directors &amp; Actors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prashanth kandela</dc:creator>
  <cp:lastModifiedBy>prashanth kandela</cp:lastModifiedBy>
  <cp:revision>16</cp:revision>
  <dcterms:created xsi:type="dcterms:W3CDTF">2025-11-30T16:01:35Z</dcterms:created>
  <dcterms:modified xsi:type="dcterms:W3CDTF">2025-12-13T04:54:03Z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2025-10-19T00:00:00Z</vt:filetime>
  </property>
  <property fmtid="{D5CDD505-2E9C-101B-9397-08002B2CF9AE}" pid="3" name="LastSaved">
    <vt:filetime>2025-11-30T00:00:00Z</vt:filetime>
  </property>
</Properties>
</file>